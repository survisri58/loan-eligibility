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91840" cy="685800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955279" cy="3657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EF"/>
                </a:solidFill>
                <a:latin typeface="Aptos"/>
              </a:defRPr>
            </a:pPr>
            <a:r>
              <a:t>IBM SPSS MODELER 18.6  |  CLASSIFICATION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8046720" cy="1417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LOAN ELIGIBILITY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7223760" cy="8229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E1EBF5"/>
                </a:solidFill>
                <a:latin typeface="Aptos"/>
              </a:defRPr>
            </a:pPr>
            <a:r>
              <a:t>Predictive analytics for loan application assessment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1097280" cy="64008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7223760" cy="594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College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722376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D2E0EE"/>
                </a:solidFill>
                <a:latin typeface="Aptos"/>
              </a:defRPr>
            </a:pPr>
            <a:r>
              <a:t>Prepared using IBM SPSS Modeler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Project overview and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10515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This project uses IBM SPSS Modeler 18.6 to explore loan application data and build classification models that estimate whether an application is likely to be approved or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73152" cy="182880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70632"/>
            <a:ext cx="3044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18688"/>
            <a:ext cx="3044952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Prepare and define fields, split the data into training/testing sets, then build C5.0 and C&amp;R Tree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60604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606040"/>
            <a:ext cx="73152" cy="182880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770632"/>
            <a:ext cx="3044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218688"/>
            <a:ext cx="3044952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C5.0 achieved 99.09% training accuracy and 98.24% testing accuracy in the reported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06040"/>
            <a:ext cx="342900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06040"/>
            <a:ext cx="73152" cy="182880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770632"/>
            <a:ext cx="3044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DATA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218688"/>
            <a:ext cx="3044952" cy="10972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The target field distribution is 62.22% Approved and 37.78% Rejected.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10515600" cy="6858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D"/>
                </a:solidFill>
                <a:latin typeface="Aptos"/>
              </a:defRPr>
            </a:pPr>
            <a:r>
              <a:t>The results are model-based estimates and should support—not replace—responsible lending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Introduction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Why loan eligibility prediction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361188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361188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82803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38528"/>
            <a:ext cx="4828032" cy="2880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Loan providers assess several applicant and financial factors before making a lending decision.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Predictive analytics can help identify patterns in historical applications and support more consistent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361188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3152" cy="361188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490472"/>
            <a:ext cx="482803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38528"/>
            <a:ext cx="4828032" cy="288036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Explore loan application attributes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Prepare fields for modelling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Train classification models in SPSS Modeler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Evaluate model performance using testing data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Visualize the Approved/Rejected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4960"/>
            <a:ext cx="1033272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Problem focus: use available applicant information to classify loan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Main fields used in the loan application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41"/>
                </a:solidFill>
                <a:latin typeface="Aptos"/>
              </a:defRPr>
            </a:pPr>
            <a:r>
              <a:t>The dataset combines applicant profile, creditworthiness, loan details and asset-value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73152" cy="621792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130552"/>
            <a:ext cx="9902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Applicant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78608"/>
            <a:ext cx="9902952" cy="-1097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Education, self-employed status, number of dependents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52344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752344"/>
            <a:ext cx="73152" cy="621792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16936"/>
            <a:ext cx="9902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Financial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64991"/>
            <a:ext cx="9902952" cy="-1097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Annual income, loan amount, loan term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38728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538728"/>
            <a:ext cx="73152" cy="621792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703320"/>
            <a:ext cx="9902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Credit indicator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151376"/>
            <a:ext cx="9902952" cy="-1097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CIBIL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25112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325112"/>
            <a:ext cx="73152" cy="621792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489704"/>
            <a:ext cx="9902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Assets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9902952" cy="-1097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Residential, commercial, luxury and bank asset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111496"/>
            <a:ext cx="10287000" cy="621792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111496"/>
            <a:ext cx="73152" cy="621792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276088"/>
            <a:ext cx="99029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Target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724144"/>
            <a:ext cx="9902952" cy="-10972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loan_status: Approved / 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0760"/>
            <a:ext cx="1024128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4707D"/>
                </a:solidFill>
                <a:latin typeface="Aptos"/>
              </a:defRPr>
            </a:pPr>
            <a:r>
              <a:t>Data source: loan_approval_dataset.csv (as used in the project stream).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Workflow from data preparation to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600200"/>
            <a:ext cx="685800" cy="685800"/>
          </a:xfrm>
          <a:prstGeom prst="ellipse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20116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40"/>
            <a:ext cx="2011680" cy="9144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Import CSV dataset</a:t>
            </a:r>
          </a:p>
        </p:txBody>
      </p:sp>
      <p:sp>
        <p:nvSpPr>
          <p:cNvPr id="9" name="Chevron 8"/>
          <p:cNvSpPr/>
          <p:nvPr/>
        </p:nvSpPr>
        <p:spPr>
          <a:xfrm>
            <a:off x="2194560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4448" y="1600200"/>
            <a:ext cx="685800" cy="685800"/>
          </a:xfrm>
          <a:prstGeom prst="ellipse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514600"/>
            <a:ext cx="20116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Define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3063240"/>
            <a:ext cx="2011680" cy="9144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Set loan_status as target</a:t>
            </a:r>
          </a:p>
        </p:txBody>
      </p:sp>
      <p:sp>
        <p:nvSpPr>
          <p:cNvPr id="13" name="Chevron 12"/>
          <p:cNvSpPr/>
          <p:nvPr/>
        </p:nvSpPr>
        <p:spPr>
          <a:xfrm>
            <a:off x="4526279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16168" y="1600200"/>
            <a:ext cx="685800" cy="685800"/>
          </a:xfrm>
          <a:prstGeom prst="ellipse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514600"/>
            <a:ext cx="20116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063240"/>
            <a:ext cx="2011680" cy="9144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70% training / 30% testing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6858000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7888" y="1600200"/>
            <a:ext cx="685800" cy="685800"/>
          </a:xfrm>
          <a:prstGeom prst="ellipse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514600"/>
            <a:ext cx="20116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Build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063240"/>
            <a:ext cx="2011680" cy="9144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C5.0 and C&amp;R Tree</a:t>
            </a:r>
          </a:p>
        </p:txBody>
      </p:sp>
      <p:sp>
        <p:nvSpPr>
          <p:cNvPr id="21" name="Chevron 20"/>
          <p:cNvSpPr/>
          <p:nvPr/>
        </p:nvSpPr>
        <p:spPr>
          <a:xfrm>
            <a:off x="9189719" y="1801368"/>
            <a:ext cx="502920" cy="256032"/>
          </a:xfrm>
          <a:prstGeom prst="chevron">
            <a:avLst/>
          </a:prstGeom>
          <a:solidFill>
            <a:srgbClr val="B0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79608" y="1600200"/>
            <a:ext cx="685800" cy="685800"/>
          </a:xfrm>
          <a:prstGeom prst="ellipse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514600"/>
            <a:ext cx="2011680" cy="4572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142646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063240"/>
            <a:ext cx="2011680" cy="9144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Analysis and scored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572000"/>
            <a:ext cx="1024128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572000"/>
            <a:ext cx="73152" cy="96012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736592"/>
            <a:ext cx="985723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EVALUATION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184648"/>
            <a:ext cx="9857232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Reported C5.0 accuracy is based on the project's Analysis output. Testing performance is the more relevant estimate of generalization.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Complete SPSS Modeler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Full stream view from the project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6</a:t>
            </a:r>
          </a:p>
        </p:txBody>
      </p:sp>
      <p:pic>
        <p:nvPicPr>
          <p:cNvPr id="6" name="Picture 5" descr="image-17924745607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527" y="1234439"/>
            <a:ext cx="664464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Complete stream screenshot supplied during the project discussion.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Results &amp; Graphical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Reported C5.0 performance and target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21208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646"/>
                </a:solidFill>
                <a:latin typeface="Aptos"/>
              </a:defRPr>
            </a:pPr>
            <a:r>
              <a:t>C5.0 model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42316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73152" cy="141732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203911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039112" cy="6858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99.09%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83080"/>
            <a:ext cx="242316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783080"/>
            <a:ext cx="73152" cy="141732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947672"/>
            <a:ext cx="203911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395728"/>
            <a:ext cx="2039112" cy="68580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98.24%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484632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2A3441"/>
                </a:solidFill>
                <a:latin typeface="Aptos"/>
              </a:defRPr>
            </a:pPr>
            <a:r>
              <a:t>Testing result: 1,287 correct (98.24%) and 23 wrong (1.76%) out of 1,310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34440"/>
            <a:ext cx="5029200" cy="4114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42646"/>
                </a:solidFill>
                <a:latin typeface="Aptos"/>
              </a:defRPr>
            </a:pPr>
            <a:r>
              <a:t>Loan status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856231"/>
            <a:ext cx="2971800" cy="384048"/>
          </a:xfrm>
          <a:prstGeom prst="round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1856231"/>
            <a:ext cx="73152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29794"/>
                </a:solidFill>
                <a:latin typeface="Aptos"/>
              </a:defRPr>
            </a:pPr>
            <a:r>
              <a:t>62.22%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182880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A3441"/>
                </a:solidFill>
                <a:latin typeface="Aptos"/>
              </a:defRPr>
            </a:pPr>
            <a:r>
              <a:t>Rejected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679192"/>
            <a:ext cx="1801368" cy="384048"/>
          </a:xfrm>
          <a:prstGeom prst="round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679192"/>
            <a:ext cx="914400" cy="3200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A3441"/>
                </a:solidFill>
                <a:latin typeface="Aptos"/>
              </a:defRPr>
            </a:pPr>
            <a:r>
              <a:t>37.78%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57600"/>
            <a:ext cx="4800600" cy="132588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73152" cy="1325880"/>
          </a:xfrm>
          <a:prstGeom prst="rect">
            <a:avLst/>
          </a:prstGeom>
          <a:solidFill>
            <a:srgbClr val="2B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3822191"/>
            <a:ext cx="441655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270248"/>
            <a:ext cx="4416552" cy="59435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The dataset contains more Approved than Rejected records. Distribution describes the dataset, not the model's prediction accuracy.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394960"/>
            <a:ext cx="1078992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4707D"/>
                </a:solidFill>
                <a:latin typeface="Aptos"/>
              </a:defRPr>
            </a:pPr>
            <a:r>
              <a:t>Important: high accuracy alone does not establish fairness, calibration, or suitability for real lending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789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Model Comparison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30936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DDBEA"/>
                </a:solidFill>
                <a:latin typeface="Aptos"/>
              </a:defRPr>
            </a:pPr>
            <a:r>
              <a:t>C5.0 and C&amp;R Tree are included in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07D"/>
                </a:solidFill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508760"/>
          <a:ext cx="1065275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749039"/>
                <a:gridCol w="4069080"/>
              </a:tblGrid>
              <a:tr h="60579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Measure</a:t>
                      </a:r>
                    </a:p>
                  </a:txBody>
                  <a:tcPr marL="109728" marR="73152">
                    <a:solidFill>
                      <a:srgbClr val="1426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C5.0</a:t>
                      </a:r>
                    </a:p>
                  </a:txBody>
                  <a:tcPr marL="109728" marR="73152">
                    <a:solidFill>
                      <a:srgbClr val="14264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C&amp;R Tree</a:t>
                      </a:r>
                    </a:p>
                  </a:txBody>
                  <a:tcPr marL="109728" marR="73152">
                    <a:solidFill>
                      <a:srgbClr val="14264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Model included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Reported test accuracy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98.24%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Run Analysis and record actual result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Next comparison step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Use as baseline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A3441"/>
                          </a:solidFill>
                          <a:latin typeface="Aptos"/>
                        </a:defRPr>
                      </a:pPr>
                      <a:r>
                        <a:t>Compare testing accuracy and errors</a:t>
                      </a:r>
                    </a:p>
                  </a:txBody>
                  <a:tcPr marL="109728" marR="73152"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343400"/>
            <a:ext cx="50749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343400"/>
            <a:ext cx="73152" cy="114300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507992"/>
            <a:ext cx="469087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HOW TO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956048"/>
            <a:ext cx="4690872" cy="41147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Check test accuracy, correct/wrong counts, and whether either model overfits.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07492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73152" cy="114300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507992"/>
            <a:ext cx="469087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4956048"/>
            <a:ext cx="4690872" cy="41147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C&amp;R Tree accuracy is not stated here because a verified result was not available in the screenshots.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97880"/>
            <a:ext cx="1024128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Do not choose a model on accuracy alone; consider error types and business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1206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965960"/>
          </a:xfrm>
          <a:prstGeom prst="rect">
            <a:avLst/>
          </a:prstGeom>
          <a:solidFill>
            <a:srgbClr val="22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81912"/>
            <a:ext cx="473659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29968"/>
            <a:ext cx="4736592" cy="12344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The project demonstrates a complete classification workflow in IBM SPSS Modeler. C5.0 achieved 98.24% testing accuracy on the reported test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1206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BE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1965960"/>
          </a:xfrm>
          <a:prstGeom prst="rect">
            <a:avLst/>
          </a:prstGeom>
          <a:solidFill>
            <a:srgbClr val="ED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581912"/>
            <a:ext cx="4736592" cy="384048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42646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029968"/>
            <a:ext cx="4736592" cy="1234439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Validate on additional data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Compare C5.0 and C&amp;R Tree results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Review false approvals/rejections</a:t>
            </a:r>
          </a:p>
          <a:p>
            <a:pPr>
              <a:spcAft>
                <a:spcPts val="800"/>
              </a:spcAft>
              <a:defRPr sz="1300" b="0">
                <a:solidFill>
                  <a:srgbClr val="2A3441"/>
                </a:solidFill>
                <a:latin typeface="Aptos"/>
              </a:defRPr>
            </a:pPr>
            <a:r>
              <a:t>• Assess fairness and 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FEAF5"/>
                </a:solidFill>
                <a:latin typeface="Aptos"/>
              </a:defRPr>
            </a:pPr>
            <a:r>
              <a:t>Loan status predictions can support analysis, but final lending decisions require broader checks and human oversight.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241280" cy="274320"/>
          </a:xfrm>
          <a:prstGeom prst="rect">
            <a:avLst/>
          </a:prstGeom>
          <a:noFill/>
        </p:spPr>
        <p:txBody>
          <a:bodyPr wrap="square" lIns="45720" rIns="45720" tIns="36576" bIns="27432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C3D6E9"/>
                </a:solidFill>
                <a:latin typeface="Aptos"/>
              </a:defRPr>
            </a:pPr>
            <a:r>
              <a:t>Loan Eligibility Prediction | IBM SPSS Modeler 18.6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