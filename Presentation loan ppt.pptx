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78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E8F9A8-119F-470F-A548-AE4007B3FE29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849726-4491-4E5D-91AC-1D457F2B7E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59292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849726-4491-4E5D-91AC-1D457F2B7EE1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71595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6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961120" y="0"/>
            <a:ext cx="3291840" cy="6858000"/>
          </a:xfrm>
          <a:prstGeom prst="rect">
            <a:avLst/>
          </a:prstGeom>
          <a:solidFill>
            <a:srgbClr val="2B6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646920" y="0"/>
            <a:ext cx="2542032" cy="6858000"/>
          </a:xfrm>
          <a:prstGeom prst="rect">
            <a:avLst/>
          </a:prstGeom>
          <a:solidFill>
            <a:srgbClr val="2297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515600" y="0"/>
            <a:ext cx="1673352" cy="6858000"/>
          </a:xfrm>
          <a:prstGeom prst="rect">
            <a:avLst/>
          </a:prstGeom>
          <a:solidFill>
            <a:srgbClr val="EDB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7955279" cy="36576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B7D7EF"/>
                </a:solidFill>
                <a:latin typeface="Aptos"/>
              </a:defRPr>
            </a:pPr>
            <a:r>
              <a:t>IBM SPSS MODELER 18.6  |  CLASSIFICATION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8046720" cy="141732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>
              <a:spcAft>
                <a:spcPts val="800"/>
              </a:spcAft>
              <a:defRPr sz="3400" b="1">
                <a:solidFill>
                  <a:srgbClr val="FFFFFF"/>
                </a:solidFill>
                <a:latin typeface="Aptos Display"/>
              </a:defRPr>
            </a:pPr>
            <a:r>
              <a:t>LOAN ELIGIBILITY</a:t>
            </a:r>
          </a:p>
          <a:p>
            <a:pPr>
              <a:spcAft>
                <a:spcPts val="800"/>
              </a:spcAft>
              <a:defRPr sz="3400" b="1">
                <a:solidFill>
                  <a:srgbClr val="FFFFFF"/>
                </a:solidFill>
                <a:latin typeface="Aptos Display"/>
              </a:defRPr>
            </a:pPr>
            <a:r>
              <a:t>PREDICTION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703320"/>
            <a:ext cx="7223760" cy="82296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E1EBF5"/>
                </a:solidFill>
                <a:latin typeface="Aptos"/>
              </a:defRPr>
            </a:pPr>
            <a:r>
              <a:t>Predictive analytics for loan application assessment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4800600"/>
            <a:ext cx="1097280" cy="64008"/>
          </a:xfrm>
          <a:prstGeom prst="rect">
            <a:avLst/>
          </a:prstGeom>
          <a:solidFill>
            <a:srgbClr val="EDB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5074920"/>
            <a:ext cx="7223760" cy="59436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College Project 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080760"/>
            <a:ext cx="7223760" cy="32004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D2E0EE"/>
                </a:solidFill>
                <a:latin typeface="Aptos"/>
              </a:defRPr>
            </a:pPr>
            <a:r>
              <a:t>Prepared using IBM SPSS Modeler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7899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30936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DDBEA"/>
                </a:solidFill>
                <a:latin typeface="Aptos"/>
              </a:defRPr>
            </a:pPr>
            <a:r>
              <a:t>Project overview and key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51052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07D"/>
                </a:solidFill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10789920" cy="105156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2A3441"/>
                </a:solidFill>
                <a:latin typeface="Aptos"/>
              </a:defRPr>
            </a:pPr>
            <a:r>
              <a:t>This project uses IBM SPSS Modeler 18.6 to explore loan application data and build classification models that estimate whether an application is likely to be approved or rejected.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606040"/>
            <a:ext cx="3429000" cy="1828800"/>
          </a:xfrm>
          <a:prstGeom prst="roundRect">
            <a:avLst/>
          </a:prstGeom>
          <a:solidFill>
            <a:srgbClr val="EFF5FA"/>
          </a:solidFill>
          <a:ln>
            <a:solidFill>
              <a:srgbClr val="DBE9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2606040"/>
            <a:ext cx="73152" cy="1828800"/>
          </a:xfrm>
          <a:prstGeom prst="rect">
            <a:avLst/>
          </a:prstGeom>
          <a:solidFill>
            <a:srgbClr val="2B6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2770632"/>
            <a:ext cx="3044952" cy="384048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42646"/>
                </a:solidFill>
                <a:latin typeface="Aptos"/>
              </a:defRPr>
            </a:pPr>
            <a:r>
              <a:t>APPROACH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3218688"/>
            <a:ext cx="3044952" cy="109728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2A3441"/>
                </a:solidFill>
                <a:latin typeface="Aptos"/>
              </a:defRPr>
            </a:pPr>
            <a:r>
              <a:t>Prepare and define fields, split the data into training/testing sets, then build C5.0 and C&amp;R Tree models.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606040"/>
            <a:ext cx="3429000" cy="1828800"/>
          </a:xfrm>
          <a:prstGeom prst="roundRect">
            <a:avLst/>
          </a:prstGeom>
          <a:solidFill>
            <a:srgbClr val="EFF5FA"/>
          </a:solidFill>
          <a:ln>
            <a:solidFill>
              <a:srgbClr val="DBE9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2606040"/>
            <a:ext cx="73152" cy="1828800"/>
          </a:xfrm>
          <a:prstGeom prst="rect">
            <a:avLst/>
          </a:prstGeom>
          <a:solidFill>
            <a:srgbClr val="2297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90288" y="2770632"/>
            <a:ext cx="3044952" cy="384048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42646"/>
                </a:solidFill>
                <a:latin typeface="Aptos"/>
              </a:defRPr>
            </a:pPr>
            <a:r>
              <a:t>KEY RESULT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3218688"/>
            <a:ext cx="3044952" cy="109728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2A3441"/>
                </a:solidFill>
                <a:latin typeface="Aptos"/>
              </a:defRPr>
            </a:pPr>
            <a:r>
              <a:t>C5.0 achieved 99.09% training accuracy and 98.24% testing accuracy in the reported analysis.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2606040"/>
            <a:ext cx="3429000" cy="1828800"/>
          </a:xfrm>
          <a:prstGeom prst="roundRect">
            <a:avLst/>
          </a:prstGeom>
          <a:solidFill>
            <a:srgbClr val="EFF5FA"/>
          </a:solidFill>
          <a:ln>
            <a:solidFill>
              <a:srgbClr val="DBE9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92440" y="2606040"/>
            <a:ext cx="73152" cy="1828800"/>
          </a:xfrm>
          <a:prstGeom prst="rect">
            <a:avLst/>
          </a:prstGeom>
          <a:solidFill>
            <a:srgbClr val="EDB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93608" y="2770632"/>
            <a:ext cx="3044952" cy="384048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42646"/>
                </a:solidFill>
                <a:latin typeface="Aptos"/>
              </a:defRPr>
            </a:pPr>
            <a:r>
              <a:t>DATA OVERVIEW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3218688"/>
            <a:ext cx="3044952" cy="109728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2A3441"/>
                </a:solidFill>
                <a:latin typeface="Aptos"/>
              </a:defRPr>
            </a:pPr>
            <a:r>
              <a:t>The target field distribution is 62.22% Approved and 37.78% Rejected.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892040"/>
            <a:ext cx="10515600" cy="68580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64707D"/>
                </a:solidFill>
                <a:latin typeface="Aptos"/>
              </a:defRPr>
            </a:pPr>
            <a:r>
              <a:t>The results are model-based estimates and should support—not replace—responsible lending review.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7899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Introduction &amp;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30936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DDBEA"/>
                </a:solidFill>
                <a:latin typeface="Aptos"/>
              </a:defRPr>
            </a:pPr>
            <a:r>
              <a:t>Why loan eligibility prediction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51052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07D"/>
                </a:solidFill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5212080" cy="3611880"/>
          </a:xfrm>
          <a:prstGeom prst="roundRect">
            <a:avLst/>
          </a:prstGeom>
          <a:solidFill>
            <a:srgbClr val="EFF5FA"/>
          </a:solidFill>
          <a:ln>
            <a:solidFill>
              <a:srgbClr val="DBE9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325880"/>
            <a:ext cx="73152" cy="3611880"/>
          </a:xfrm>
          <a:prstGeom prst="rect">
            <a:avLst/>
          </a:prstGeom>
          <a:solidFill>
            <a:srgbClr val="2B6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490472"/>
            <a:ext cx="4828032" cy="384048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42646"/>
                </a:solidFill>
                <a:latin typeface="Aptos"/>
              </a:defRPr>
            </a:pPr>
            <a:r>
              <a:t>INTRODUCTION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938528"/>
            <a:ext cx="4828032" cy="288036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2A3441"/>
                </a:solidFill>
                <a:latin typeface="Aptos"/>
              </a:defRPr>
            </a:pPr>
            <a:r>
              <a:t>Loan providers assess several applicant and financial factors before making a lending decision.</a:t>
            </a:r>
          </a:p>
          <a:p>
            <a:pPr>
              <a:spcAft>
                <a:spcPts val="800"/>
              </a:spcAft>
              <a:defRPr sz="1300" b="0">
                <a:solidFill>
                  <a:srgbClr val="2A3441"/>
                </a:solidFill>
                <a:latin typeface="Aptos"/>
              </a:defRPr>
            </a:pPr>
            <a:endParaRPr/>
          </a:p>
          <a:p>
            <a:pPr>
              <a:spcAft>
                <a:spcPts val="800"/>
              </a:spcAft>
              <a:defRPr sz="1300" b="0">
                <a:solidFill>
                  <a:srgbClr val="2A3441"/>
                </a:solidFill>
                <a:latin typeface="Aptos"/>
              </a:defRPr>
            </a:pPr>
            <a:r>
              <a:t>Predictive analytics can help identify patterns in historical applications and support more consistent assessment.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325880"/>
            <a:ext cx="5212080" cy="3611880"/>
          </a:xfrm>
          <a:prstGeom prst="roundRect">
            <a:avLst/>
          </a:prstGeom>
          <a:solidFill>
            <a:srgbClr val="EFF5FA"/>
          </a:solidFill>
          <a:ln>
            <a:solidFill>
              <a:srgbClr val="DBE9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63640" y="1325880"/>
            <a:ext cx="73152" cy="3611880"/>
          </a:xfrm>
          <a:prstGeom prst="rect">
            <a:avLst/>
          </a:prstGeom>
          <a:solidFill>
            <a:srgbClr val="2297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64807" y="1490472"/>
            <a:ext cx="4828032" cy="384048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42646"/>
                </a:solidFill>
                <a:latin typeface="Aptos"/>
              </a:defRPr>
            </a:pPr>
            <a:r>
              <a:t>PROJECT OBJECTIVES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7" y="1938528"/>
            <a:ext cx="4828032" cy="288036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2A3441"/>
                </a:solidFill>
                <a:latin typeface="Aptos"/>
              </a:defRPr>
            </a:pPr>
            <a:r>
              <a:t>• Explore loan application attributes</a:t>
            </a:r>
          </a:p>
          <a:p>
            <a:pPr>
              <a:spcAft>
                <a:spcPts val="800"/>
              </a:spcAft>
              <a:defRPr sz="1300" b="0">
                <a:solidFill>
                  <a:srgbClr val="2A3441"/>
                </a:solidFill>
                <a:latin typeface="Aptos"/>
              </a:defRPr>
            </a:pPr>
            <a:r>
              <a:t>• Prepare fields for modelling</a:t>
            </a:r>
          </a:p>
          <a:p>
            <a:pPr>
              <a:spcAft>
                <a:spcPts val="800"/>
              </a:spcAft>
              <a:defRPr sz="1300" b="0">
                <a:solidFill>
                  <a:srgbClr val="2A3441"/>
                </a:solidFill>
                <a:latin typeface="Aptos"/>
              </a:defRPr>
            </a:pPr>
            <a:r>
              <a:t>• Train classification models in SPSS Modeler</a:t>
            </a:r>
          </a:p>
          <a:p>
            <a:pPr>
              <a:spcAft>
                <a:spcPts val="800"/>
              </a:spcAft>
              <a:defRPr sz="1300" b="0">
                <a:solidFill>
                  <a:srgbClr val="2A3441"/>
                </a:solidFill>
                <a:latin typeface="Aptos"/>
              </a:defRPr>
            </a:pPr>
            <a:r>
              <a:t>• Evaluate model performance using testing data</a:t>
            </a:r>
          </a:p>
          <a:p>
            <a:pPr>
              <a:spcAft>
                <a:spcPts val="800"/>
              </a:spcAft>
              <a:defRPr sz="1300" b="0">
                <a:solidFill>
                  <a:srgbClr val="2A3441"/>
                </a:solidFill>
                <a:latin typeface="Aptos"/>
              </a:defRPr>
            </a:pPr>
            <a:r>
              <a:t>• Visualize the Approved/Rejected distribution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394960"/>
            <a:ext cx="10332720" cy="41148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42646"/>
                </a:solidFill>
                <a:latin typeface="Aptos"/>
              </a:defRPr>
            </a:pPr>
            <a:r>
              <a:t>Problem focus: use available applicant information to classify loan status.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7899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Dataset Description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30936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DDBEA"/>
                </a:solidFill>
                <a:latin typeface="Aptos"/>
              </a:defRPr>
            </a:pPr>
            <a:r>
              <a:t>Main fields used in the loan application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51052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07D"/>
                </a:solidFill>
              </a:defRPr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10698480" cy="50292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A3441"/>
                </a:solidFill>
                <a:latin typeface="Aptos"/>
              </a:defRPr>
            </a:pPr>
            <a:r>
              <a:t>The dataset combines applicant profile, creditworthiness, loan details and asset-value information.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965960"/>
            <a:ext cx="10287000" cy="621792"/>
          </a:xfrm>
          <a:prstGeom prst="roundRect">
            <a:avLst/>
          </a:prstGeom>
          <a:solidFill>
            <a:srgbClr val="EFF5FA"/>
          </a:solidFill>
          <a:ln>
            <a:solidFill>
              <a:srgbClr val="DBE9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68680" y="1965960"/>
            <a:ext cx="73152" cy="621792"/>
          </a:xfrm>
          <a:prstGeom prst="rect">
            <a:avLst/>
          </a:prstGeom>
          <a:solidFill>
            <a:srgbClr val="2B6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69848" y="2130552"/>
            <a:ext cx="9902952" cy="384048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42646"/>
                </a:solidFill>
                <a:latin typeface="Aptos"/>
              </a:defRPr>
            </a:pPr>
            <a:r>
              <a:t>Applicant profile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2578608"/>
            <a:ext cx="9902952" cy="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2A3441"/>
                </a:solidFill>
                <a:latin typeface="Aptos"/>
              </a:defRPr>
            </a:pPr>
            <a:r>
              <a:t>Education, self-employed status, number of dependents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2752344"/>
            <a:ext cx="10287000" cy="621792"/>
          </a:xfrm>
          <a:prstGeom prst="roundRect">
            <a:avLst/>
          </a:prstGeom>
          <a:solidFill>
            <a:srgbClr val="EFF5FA"/>
          </a:solidFill>
          <a:ln>
            <a:solidFill>
              <a:srgbClr val="DBE9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68680" y="2752344"/>
            <a:ext cx="73152" cy="621792"/>
          </a:xfrm>
          <a:prstGeom prst="rect">
            <a:avLst/>
          </a:prstGeom>
          <a:solidFill>
            <a:srgbClr val="2297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69848" y="2916936"/>
            <a:ext cx="9902952" cy="384048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42646"/>
                </a:solidFill>
                <a:latin typeface="Aptos"/>
              </a:defRPr>
            </a:pPr>
            <a:r>
              <a:t>Financial details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" y="3364991"/>
            <a:ext cx="9902952" cy="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2A3441"/>
                </a:solidFill>
                <a:latin typeface="Aptos"/>
              </a:defRPr>
            </a:pPr>
            <a:r>
              <a:t>Annual income, loan amount, loan term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3538728"/>
            <a:ext cx="10287000" cy="621792"/>
          </a:xfrm>
          <a:prstGeom prst="roundRect">
            <a:avLst/>
          </a:prstGeom>
          <a:solidFill>
            <a:srgbClr val="EFF5FA"/>
          </a:solidFill>
          <a:ln>
            <a:solidFill>
              <a:srgbClr val="DBE9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68680" y="3538728"/>
            <a:ext cx="73152" cy="621792"/>
          </a:xfrm>
          <a:prstGeom prst="rect">
            <a:avLst/>
          </a:prstGeom>
          <a:solidFill>
            <a:srgbClr val="EDB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69848" y="3703320"/>
            <a:ext cx="9902952" cy="384048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42646"/>
                </a:solidFill>
                <a:latin typeface="Aptos"/>
              </a:defRPr>
            </a:pPr>
            <a:r>
              <a:t>Credit indicator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" y="4151376"/>
            <a:ext cx="9902952" cy="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2A3441"/>
                </a:solidFill>
                <a:latin typeface="Aptos"/>
              </a:defRPr>
            </a:pPr>
            <a:r>
              <a:t>CIBIL score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4325112"/>
            <a:ext cx="10287000" cy="621792"/>
          </a:xfrm>
          <a:prstGeom prst="roundRect">
            <a:avLst/>
          </a:prstGeom>
          <a:solidFill>
            <a:srgbClr val="EFF5FA"/>
          </a:solidFill>
          <a:ln>
            <a:solidFill>
              <a:srgbClr val="DBE9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68680" y="4325112"/>
            <a:ext cx="73152" cy="621792"/>
          </a:xfrm>
          <a:prstGeom prst="rect">
            <a:avLst/>
          </a:prstGeom>
          <a:solidFill>
            <a:srgbClr val="2B6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69848" y="4489704"/>
            <a:ext cx="9902952" cy="384048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42646"/>
                </a:solidFill>
                <a:latin typeface="Aptos"/>
              </a:defRPr>
            </a:pPr>
            <a:r>
              <a:t>Assets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" y="4937760"/>
            <a:ext cx="9902952" cy="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2A3441"/>
                </a:solidFill>
                <a:latin typeface="Aptos"/>
              </a:defRPr>
            </a:pPr>
            <a:r>
              <a:t>Residential, commercial, luxury and bank asset values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" y="5111496"/>
            <a:ext cx="10287000" cy="621792"/>
          </a:xfrm>
          <a:prstGeom prst="roundRect">
            <a:avLst/>
          </a:prstGeom>
          <a:solidFill>
            <a:srgbClr val="EFF5FA"/>
          </a:solidFill>
          <a:ln>
            <a:solidFill>
              <a:srgbClr val="DBE9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68680" y="5111496"/>
            <a:ext cx="73152" cy="621792"/>
          </a:xfrm>
          <a:prstGeom prst="rect">
            <a:avLst/>
          </a:prstGeom>
          <a:solidFill>
            <a:srgbClr val="2297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69848" y="5276088"/>
            <a:ext cx="9902952" cy="384048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42646"/>
                </a:solidFill>
                <a:latin typeface="Aptos"/>
              </a:defRPr>
            </a:pPr>
            <a:r>
              <a:t>Target field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" y="5724144"/>
            <a:ext cx="9902952" cy="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2A3441"/>
                </a:solidFill>
                <a:latin typeface="Aptos"/>
              </a:defRPr>
            </a:pPr>
            <a:r>
              <a:t>loan_status: Approved / Rejected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6080760"/>
            <a:ext cx="10241280" cy="27432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64707D"/>
                </a:solidFill>
                <a:latin typeface="Aptos"/>
              </a:defRPr>
            </a:pPr>
            <a:r>
              <a:t>Data source: loan_approval_dataset.csv (as used in the project stream).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7899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30936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DDBEA"/>
                </a:solidFill>
                <a:latin typeface="Aptos"/>
              </a:defRPr>
            </a:pPr>
            <a:r>
              <a:t>Workflow from data preparation to model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51052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07D"/>
                </a:solidFill>
              </a:defRPr>
            </a:pPr>
            <a:r>
              <a:t>5</a:t>
            </a:r>
          </a:p>
        </p:txBody>
      </p:sp>
      <p:sp>
        <p:nvSpPr>
          <p:cNvPr id="6" name="Oval 5"/>
          <p:cNvSpPr/>
          <p:nvPr/>
        </p:nvSpPr>
        <p:spPr>
          <a:xfrm>
            <a:off x="1252728" y="1600200"/>
            <a:ext cx="685800" cy="685800"/>
          </a:xfrm>
          <a:prstGeom prst="ellipse">
            <a:avLst/>
          </a:prstGeom>
          <a:solidFill>
            <a:srgbClr val="2B6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14600"/>
            <a:ext cx="2011680" cy="45720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 algn="ctr">
              <a:spcAft>
                <a:spcPts val="800"/>
              </a:spcAft>
              <a:defRPr sz="1600" b="1">
                <a:solidFill>
                  <a:srgbClr val="142646"/>
                </a:solidFill>
                <a:latin typeface="Aptos"/>
              </a:defRPr>
            </a:pPr>
            <a:r>
              <a:t>Load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063240"/>
            <a:ext cx="2011680" cy="91440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 algn="ctr">
              <a:spcAft>
                <a:spcPts val="800"/>
              </a:spcAft>
              <a:defRPr sz="1200" b="0">
                <a:solidFill>
                  <a:srgbClr val="2A3441"/>
                </a:solidFill>
                <a:latin typeface="Aptos"/>
              </a:defRPr>
            </a:pPr>
            <a:r>
              <a:t>Import CSV dataset</a:t>
            </a:r>
          </a:p>
        </p:txBody>
      </p:sp>
      <p:sp>
        <p:nvSpPr>
          <p:cNvPr id="9" name="Chevron 8"/>
          <p:cNvSpPr/>
          <p:nvPr/>
        </p:nvSpPr>
        <p:spPr>
          <a:xfrm>
            <a:off x="2194560" y="1801368"/>
            <a:ext cx="502920" cy="256032"/>
          </a:xfrm>
          <a:prstGeom prst="chevron">
            <a:avLst/>
          </a:prstGeom>
          <a:solidFill>
            <a:srgbClr val="B0BF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3584448" y="1600200"/>
            <a:ext cx="685800" cy="685800"/>
          </a:xfrm>
          <a:prstGeom prst="ellipse">
            <a:avLst/>
          </a:prstGeom>
          <a:solidFill>
            <a:srgbClr val="2297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79" y="2514600"/>
            <a:ext cx="2011680" cy="45720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 algn="ctr">
              <a:spcAft>
                <a:spcPts val="800"/>
              </a:spcAft>
              <a:defRPr sz="1600" b="1">
                <a:solidFill>
                  <a:srgbClr val="142646"/>
                </a:solidFill>
                <a:latin typeface="Aptos"/>
              </a:defRPr>
            </a:pPr>
            <a:r>
              <a:t>Define fields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79" y="3063240"/>
            <a:ext cx="2011680" cy="91440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 algn="ctr">
              <a:spcAft>
                <a:spcPts val="800"/>
              </a:spcAft>
              <a:defRPr sz="1200" b="0">
                <a:solidFill>
                  <a:srgbClr val="2A3441"/>
                </a:solidFill>
                <a:latin typeface="Aptos"/>
              </a:defRPr>
            </a:pPr>
            <a:r>
              <a:t>Set loan_status as target</a:t>
            </a:r>
          </a:p>
        </p:txBody>
      </p:sp>
      <p:sp>
        <p:nvSpPr>
          <p:cNvPr id="13" name="Chevron 12"/>
          <p:cNvSpPr/>
          <p:nvPr/>
        </p:nvSpPr>
        <p:spPr>
          <a:xfrm>
            <a:off x="4526279" y="1801368"/>
            <a:ext cx="502920" cy="256032"/>
          </a:xfrm>
          <a:prstGeom prst="chevron">
            <a:avLst/>
          </a:prstGeom>
          <a:solidFill>
            <a:srgbClr val="B0BF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5916168" y="1600200"/>
            <a:ext cx="685800" cy="685800"/>
          </a:xfrm>
          <a:prstGeom prst="ellipse">
            <a:avLst/>
          </a:prstGeom>
          <a:solidFill>
            <a:srgbClr val="EDB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57800" y="2514600"/>
            <a:ext cx="2011680" cy="45720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 algn="ctr">
              <a:spcAft>
                <a:spcPts val="800"/>
              </a:spcAft>
              <a:defRPr sz="1600" b="1">
                <a:solidFill>
                  <a:srgbClr val="142646"/>
                </a:solidFill>
                <a:latin typeface="Aptos"/>
              </a:defRPr>
            </a:pPr>
            <a:r>
              <a:t>Partition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57800" y="3063240"/>
            <a:ext cx="2011680" cy="91440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 algn="ctr">
              <a:spcAft>
                <a:spcPts val="800"/>
              </a:spcAft>
              <a:defRPr sz="1200" b="0">
                <a:solidFill>
                  <a:srgbClr val="2A3441"/>
                </a:solidFill>
                <a:latin typeface="Aptos"/>
              </a:defRPr>
            </a:pPr>
            <a:r>
              <a:t>70% training / 30% testing</a:t>
            </a:r>
          </a:p>
        </p:txBody>
      </p:sp>
      <p:sp>
        <p:nvSpPr>
          <p:cNvPr id="17" name="Chevron 16"/>
          <p:cNvSpPr/>
          <p:nvPr/>
        </p:nvSpPr>
        <p:spPr>
          <a:xfrm>
            <a:off x="6858000" y="1801368"/>
            <a:ext cx="502920" cy="256032"/>
          </a:xfrm>
          <a:prstGeom prst="chevron">
            <a:avLst/>
          </a:prstGeom>
          <a:solidFill>
            <a:srgbClr val="B0BF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247888" y="1600200"/>
            <a:ext cx="685800" cy="685800"/>
          </a:xfrm>
          <a:prstGeom prst="ellipse">
            <a:avLst/>
          </a:prstGeom>
          <a:solidFill>
            <a:srgbClr val="2B6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19" y="2514600"/>
            <a:ext cx="2011680" cy="45720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 algn="ctr">
              <a:spcAft>
                <a:spcPts val="800"/>
              </a:spcAft>
              <a:defRPr sz="1600" b="1">
                <a:solidFill>
                  <a:srgbClr val="142646"/>
                </a:solidFill>
                <a:latin typeface="Aptos"/>
              </a:defRPr>
            </a:pPr>
            <a:r>
              <a:t>Build models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19" y="3063240"/>
            <a:ext cx="2011680" cy="91440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 algn="ctr">
              <a:spcAft>
                <a:spcPts val="800"/>
              </a:spcAft>
              <a:defRPr sz="1200" b="0">
                <a:solidFill>
                  <a:srgbClr val="2A3441"/>
                </a:solidFill>
                <a:latin typeface="Aptos"/>
              </a:defRPr>
            </a:pPr>
            <a:r>
              <a:t>C5.0 and C&amp;R Tree</a:t>
            </a:r>
          </a:p>
        </p:txBody>
      </p:sp>
      <p:sp>
        <p:nvSpPr>
          <p:cNvPr id="21" name="Chevron 20"/>
          <p:cNvSpPr/>
          <p:nvPr/>
        </p:nvSpPr>
        <p:spPr>
          <a:xfrm>
            <a:off x="9189719" y="1801368"/>
            <a:ext cx="502920" cy="256032"/>
          </a:xfrm>
          <a:prstGeom prst="chevron">
            <a:avLst/>
          </a:prstGeom>
          <a:solidFill>
            <a:srgbClr val="B0BF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0579608" y="1600200"/>
            <a:ext cx="685800" cy="685800"/>
          </a:xfrm>
          <a:prstGeom prst="ellipse">
            <a:avLst/>
          </a:prstGeom>
          <a:solidFill>
            <a:srgbClr val="2297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21240" y="2514600"/>
            <a:ext cx="2011680" cy="45720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 algn="ctr">
              <a:spcAft>
                <a:spcPts val="800"/>
              </a:spcAft>
              <a:defRPr sz="1600" b="1">
                <a:solidFill>
                  <a:srgbClr val="142646"/>
                </a:solidFill>
                <a:latin typeface="Aptos"/>
              </a:defRPr>
            </a:pPr>
            <a:r>
              <a:t>Evaluate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21240" y="3063240"/>
            <a:ext cx="2011680" cy="91440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 algn="ctr">
              <a:spcAft>
                <a:spcPts val="800"/>
              </a:spcAft>
              <a:defRPr sz="1200" b="0">
                <a:solidFill>
                  <a:srgbClr val="2A3441"/>
                </a:solidFill>
                <a:latin typeface="Aptos"/>
              </a:defRPr>
            </a:pPr>
            <a:r>
              <a:t>Analysis and scored output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4572000"/>
            <a:ext cx="10241280" cy="960120"/>
          </a:xfrm>
          <a:prstGeom prst="roundRect">
            <a:avLst/>
          </a:prstGeom>
          <a:solidFill>
            <a:srgbClr val="EFF5FA"/>
          </a:solidFill>
          <a:ln>
            <a:solidFill>
              <a:srgbClr val="DBE9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14400" y="4572000"/>
            <a:ext cx="73152" cy="960120"/>
          </a:xfrm>
          <a:prstGeom prst="rect">
            <a:avLst/>
          </a:prstGeom>
          <a:solidFill>
            <a:srgbClr val="2297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115568" y="4736592"/>
            <a:ext cx="9857232" cy="384048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42646"/>
                </a:solidFill>
                <a:latin typeface="Aptos"/>
              </a:defRPr>
            </a:pPr>
            <a:r>
              <a:t>EVALUATION NOTE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" y="5184648"/>
            <a:ext cx="9857232" cy="22860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2A3441"/>
                </a:solidFill>
                <a:latin typeface="Aptos"/>
              </a:defRPr>
            </a:pPr>
            <a:r>
              <a:t>Reported C5.0 accuracy is based on the project's Analysis output. Testing performance is the more relevant estimate of generalization.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7899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Complete SPSS Modeler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30936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DDBEA"/>
                </a:solidFill>
                <a:latin typeface="Aptos"/>
              </a:defRPr>
            </a:pPr>
            <a:r>
              <a:t>Full stream view from the project canvas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51052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07D"/>
                </a:solidFill>
              </a:defRPr>
            </a:pPr>
            <a: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09360"/>
            <a:ext cx="10972800" cy="22860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 algn="ctr">
              <a:spcAft>
                <a:spcPts val="800"/>
              </a:spcAft>
              <a:defRPr sz="1000" b="0">
                <a:solidFill>
                  <a:srgbClr val="64707D"/>
                </a:solidFill>
                <a:latin typeface="Aptos"/>
              </a:defRPr>
            </a:pPr>
            <a:r>
              <a:t>Complete stream screenshot supplied during the project discussion.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9FC458D-69BF-900A-1872-A8C5019950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254" y="974082"/>
            <a:ext cx="9891252" cy="648060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7899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Results &amp; Graphical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30936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DDBEA"/>
                </a:solidFill>
                <a:latin typeface="Aptos"/>
              </a:defRPr>
            </a:pPr>
            <a:r>
              <a:t>Reported C5.0 performance and target distribution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51052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07D"/>
                </a:solidFill>
              </a:defRPr>
            </a:pPr>
            <a: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5212080" cy="41148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42646"/>
                </a:solidFill>
                <a:latin typeface="Aptos"/>
              </a:defRPr>
            </a:pPr>
            <a:r>
              <a:t>C5.0 model accuracy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83080"/>
            <a:ext cx="2423160" cy="1417320"/>
          </a:xfrm>
          <a:prstGeom prst="roundRect">
            <a:avLst/>
          </a:prstGeom>
          <a:solidFill>
            <a:srgbClr val="EFF5FA"/>
          </a:solidFill>
          <a:ln>
            <a:solidFill>
              <a:srgbClr val="DBE9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783080"/>
            <a:ext cx="73152" cy="1417320"/>
          </a:xfrm>
          <a:prstGeom prst="rect">
            <a:avLst/>
          </a:prstGeom>
          <a:solidFill>
            <a:srgbClr val="2B6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1947672"/>
            <a:ext cx="2039112" cy="384048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42646"/>
                </a:solidFill>
                <a:latin typeface="Aptos"/>
              </a:defRPr>
            </a:pPr>
            <a:r>
              <a:t>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395728"/>
            <a:ext cx="2039112" cy="68580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2A3441"/>
                </a:solidFill>
                <a:latin typeface="Aptos"/>
              </a:defRPr>
            </a:pPr>
            <a:r>
              <a:t>99.09%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783080"/>
            <a:ext cx="2423160" cy="1417320"/>
          </a:xfrm>
          <a:prstGeom prst="roundRect">
            <a:avLst/>
          </a:prstGeom>
          <a:solidFill>
            <a:srgbClr val="EFF5FA"/>
          </a:solidFill>
          <a:ln>
            <a:solidFill>
              <a:srgbClr val="DBE9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337560" y="1783080"/>
            <a:ext cx="73152" cy="1417320"/>
          </a:xfrm>
          <a:prstGeom prst="rect">
            <a:avLst/>
          </a:prstGeom>
          <a:solidFill>
            <a:srgbClr val="2297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38728" y="1947672"/>
            <a:ext cx="2039112" cy="384048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42646"/>
                </a:solidFill>
                <a:latin typeface="Aptos"/>
              </a:defRPr>
            </a:pPr>
            <a:r>
              <a:t>TESTING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8728" y="2395728"/>
            <a:ext cx="2039112" cy="68580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2A3441"/>
                </a:solidFill>
                <a:latin typeface="Aptos"/>
              </a:defRPr>
            </a:pPr>
            <a:r>
              <a:t>98.24%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429000"/>
            <a:ext cx="4846320" cy="54864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2A3441"/>
                </a:solidFill>
                <a:latin typeface="Aptos"/>
              </a:defRPr>
            </a:pPr>
            <a:r>
              <a:t>Testing result: 1,287 correct (98.24%) and 23 wrong (1.76%) out of 1,310 records.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234440"/>
            <a:ext cx="5029200" cy="41148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42646"/>
                </a:solidFill>
                <a:latin typeface="Aptos"/>
              </a:defRPr>
            </a:pPr>
            <a:r>
              <a:t>Loan status distribution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874519"/>
            <a:ext cx="1828800" cy="27432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2A3441"/>
                </a:solidFill>
                <a:latin typeface="Aptos"/>
              </a:defRPr>
            </a:pPr>
            <a:r>
              <a:t>Approved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18120" y="1856231"/>
            <a:ext cx="2971800" cy="384048"/>
          </a:xfrm>
          <a:prstGeom prst="roundRect">
            <a:avLst/>
          </a:prstGeom>
          <a:solidFill>
            <a:srgbClr val="2297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881360" y="1856231"/>
            <a:ext cx="731520" cy="32004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229794"/>
                </a:solidFill>
                <a:latin typeface="Aptos"/>
              </a:defRPr>
            </a:pPr>
            <a:r>
              <a:t>62.22%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697480"/>
            <a:ext cx="1828800" cy="27432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2A3441"/>
                </a:solidFill>
                <a:latin typeface="Aptos"/>
              </a:defRPr>
            </a:pPr>
            <a:r>
              <a:t>Rejected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18120" y="2679192"/>
            <a:ext cx="1801368" cy="384048"/>
          </a:xfrm>
          <a:prstGeom prst="roundRect">
            <a:avLst/>
          </a:prstGeom>
          <a:solidFill>
            <a:srgbClr val="EDB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738360" y="2679192"/>
            <a:ext cx="914400" cy="32004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2A3441"/>
                </a:solidFill>
                <a:latin typeface="Aptos"/>
              </a:defRPr>
            </a:pPr>
            <a:r>
              <a:t>37.78%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3657600"/>
            <a:ext cx="4800600" cy="1325880"/>
          </a:xfrm>
          <a:prstGeom prst="roundRect">
            <a:avLst/>
          </a:prstGeom>
          <a:solidFill>
            <a:srgbClr val="EFF5FA"/>
          </a:solidFill>
          <a:ln>
            <a:solidFill>
              <a:srgbClr val="DBE9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400800" y="3657600"/>
            <a:ext cx="73152" cy="1325880"/>
          </a:xfrm>
          <a:prstGeom prst="rect">
            <a:avLst/>
          </a:prstGeom>
          <a:solidFill>
            <a:srgbClr val="2B6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601968" y="3822191"/>
            <a:ext cx="4416552" cy="384048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42646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01968" y="4270248"/>
            <a:ext cx="4416552" cy="594359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2A3441"/>
                </a:solidFill>
                <a:latin typeface="Aptos"/>
              </a:defRPr>
            </a:pPr>
            <a:r>
              <a:t>The dataset contains more Approved than Rejected records. Distribution describes the dataset, not the model's prediction accuracy.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394960"/>
            <a:ext cx="10789920" cy="54864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64707D"/>
                </a:solidFill>
                <a:latin typeface="Aptos"/>
              </a:defRPr>
            </a:pPr>
            <a:r>
              <a:t>Important: high accuracy alone does not establish fairness, calibration, or suitability for real lending decisions.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7899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Model Comparison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30936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DDBEA"/>
                </a:solidFill>
                <a:latin typeface="Aptos"/>
              </a:defRPr>
            </a:pPr>
            <a:r>
              <a:t>C5.0 and C&amp;R Tree are included in the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51052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07D"/>
                </a:solidFill>
              </a:defRPr>
            </a:pPr>
            <a:r>
              <a:t>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508760"/>
          <a:ext cx="10652759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9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5790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Measure</a:t>
                      </a:r>
                    </a:p>
                  </a:txBody>
                  <a:tcPr marL="109728" marR="73152">
                    <a:solidFill>
                      <a:srgbClr val="14264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C5.0</a:t>
                      </a:r>
                    </a:p>
                  </a:txBody>
                  <a:tcPr marL="109728" marR="73152">
                    <a:solidFill>
                      <a:srgbClr val="14264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C&amp;R Tree</a:t>
                      </a:r>
                    </a:p>
                  </a:txBody>
                  <a:tcPr marL="109728" marR="73152">
                    <a:solidFill>
                      <a:srgbClr val="1426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Model included</a:t>
                      </a:r>
                    </a:p>
                  </a:txBody>
                  <a:tcPr marL="109728" marR="73152"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Yes</a:t>
                      </a:r>
                    </a:p>
                  </a:txBody>
                  <a:tcPr marL="109728" marR="73152"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Yes</a:t>
                      </a:r>
                    </a:p>
                  </a:txBody>
                  <a:tcPr marL="109728" marR="73152">
                    <a:solidFill>
                      <a:srgbClr val="EF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Reported test accuracy</a:t>
                      </a:r>
                    </a:p>
                  </a:txBody>
                  <a:tcPr marL="109728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98.24%</a:t>
                      </a:r>
                    </a:p>
                  </a:txBody>
                  <a:tcPr marL="109728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Run Analysis and record actual result</a:t>
                      </a:r>
                    </a:p>
                  </a:txBody>
                  <a:tcPr marL="109728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Next comparison step</a:t>
                      </a:r>
                    </a:p>
                  </a:txBody>
                  <a:tcPr marL="109728" marR="73152"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Use as baseline</a:t>
                      </a:r>
                    </a:p>
                  </a:txBody>
                  <a:tcPr marL="109728" marR="73152"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Compare testing accuracy and errors</a:t>
                      </a:r>
                    </a:p>
                  </a:txBody>
                  <a:tcPr marL="109728" marR="73152">
                    <a:solidFill>
                      <a:srgbClr val="EF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22960" y="4343400"/>
            <a:ext cx="5074920" cy="1143000"/>
          </a:xfrm>
          <a:prstGeom prst="roundRect">
            <a:avLst/>
          </a:prstGeom>
          <a:solidFill>
            <a:srgbClr val="EFF5FA"/>
          </a:solidFill>
          <a:ln>
            <a:solidFill>
              <a:srgbClr val="DBE9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2960" y="4343400"/>
            <a:ext cx="73152" cy="1143000"/>
          </a:xfrm>
          <a:prstGeom prst="rect">
            <a:avLst/>
          </a:prstGeom>
          <a:solidFill>
            <a:srgbClr val="2297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24128" y="4507992"/>
            <a:ext cx="4690872" cy="384048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42646"/>
                </a:solidFill>
                <a:latin typeface="Aptos"/>
              </a:defRPr>
            </a:pPr>
            <a:r>
              <a:t>HOW TO COMPARE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4956048"/>
            <a:ext cx="4690872" cy="411479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2A3441"/>
                </a:solidFill>
                <a:latin typeface="Aptos"/>
              </a:defRPr>
            </a:pPr>
            <a:r>
              <a:t>Check test accuracy, correct/wrong counts, and whether either model overfits.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343400"/>
            <a:ext cx="5074920" cy="1143000"/>
          </a:xfrm>
          <a:prstGeom prst="roundRect">
            <a:avLst/>
          </a:prstGeom>
          <a:solidFill>
            <a:srgbClr val="EFF5FA"/>
          </a:solidFill>
          <a:ln>
            <a:solidFill>
              <a:srgbClr val="DBE9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4343400"/>
            <a:ext cx="73152" cy="1143000"/>
          </a:xfrm>
          <a:prstGeom prst="rect">
            <a:avLst/>
          </a:prstGeom>
          <a:solidFill>
            <a:srgbClr val="EDB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19088" y="4507992"/>
            <a:ext cx="4690872" cy="384048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42646"/>
                </a:solidFill>
                <a:latin typeface="Aptos"/>
              </a:defRPr>
            </a:pPr>
            <a:r>
              <a:t>TRANSPARENCY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4956048"/>
            <a:ext cx="4690872" cy="411479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2A3441"/>
                </a:solidFill>
                <a:latin typeface="Aptos"/>
              </a:defRPr>
            </a:pPr>
            <a:r>
              <a:t>C&amp;R Tree accuracy is not stated here because a verified result was not available in the screenshots.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897880"/>
            <a:ext cx="10241280" cy="27432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4707D"/>
                </a:solidFill>
                <a:latin typeface="Aptos"/>
              </a:defRPr>
            </a:pPr>
            <a:r>
              <a:t>Do not choose a model on accuracy alone; consider error types and business context.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6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02920"/>
            <a:ext cx="10789920" cy="54864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FFFFFF"/>
                </a:solidFill>
                <a:latin typeface="Aptos Display"/>
              </a:defRPr>
            </a:pPr>
            <a:r>
              <a:t>Conclusion &amp; Future Scope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5120640" cy="1965960"/>
          </a:xfrm>
          <a:prstGeom prst="roundRect">
            <a:avLst/>
          </a:prstGeom>
          <a:solidFill>
            <a:srgbClr val="EFF5FA"/>
          </a:solidFill>
          <a:ln>
            <a:solidFill>
              <a:srgbClr val="DBE9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73152" cy="1965960"/>
          </a:xfrm>
          <a:prstGeom prst="rect">
            <a:avLst/>
          </a:prstGeom>
          <a:solidFill>
            <a:srgbClr val="2297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32688" y="1581912"/>
            <a:ext cx="4736592" cy="384048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42646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029968"/>
            <a:ext cx="4736592" cy="1234439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2A3441"/>
                </a:solidFill>
                <a:latin typeface="Aptos"/>
              </a:defRPr>
            </a:pPr>
            <a:r>
              <a:t>The project demonstrates a complete classification workflow in IBM SPSS Modeler. C5.0 achieved 98.24% testing accuracy on the reported test set.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17320"/>
            <a:ext cx="5120640" cy="1965960"/>
          </a:xfrm>
          <a:prstGeom prst="roundRect">
            <a:avLst/>
          </a:prstGeom>
          <a:solidFill>
            <a:srgbClr val="EFF5FA"/>
          </a:solidFill>
          <a:ln>
            <a:solidFill>
              <a:srgbClr val="DBE9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217920" y="1417320"/>
            <a:ext cx="73152" cy="1965960"/>
          </a:xfrm>
          <a:prstGeom prst="rect">
            <a:avLst/>
          </a:prstGeom>
          <a:solidFill>
            <a:srgbClr val="EDB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19088" y="1581912"/>
            <a:ext cx="4736592" cy="384048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42646"/>
                </a:solidFill>
                <a:latin typeface="Aptos"/>
              </a:defRPr>
            </a:pPr>
            <a:r>
              <a:t>FUTURE SCOPE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9088" y="2029968"/>
            <a:ext cx="4736592" cy="1234439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2A3441"/>
                </a:solidFill>
                <a:latin typeface="Aptos"/>
              </a:defRPr>
            </a:pPr>
            <a:r>
              <a:t>• Validate on additional data</a:t>
            </a:r>
          </a:p>
          <a:p>
            <a:pPr>
              <a:spcAft>
                <a:spcPts val="800"/>
              </a:spcAft>
              <a:defRPr sz="1300" b="0">
                <a:solidFill>
                  <a:srgbClr val="2A3441"/>
                </a:solidFill>
                <a:latin typeface="Aptos"/>
              </a:defRPr>
            </a:pPr>
            <a:r>
              <a:t>• Compare C5.0 and C&amp;R Tree results</a:t>
            </a:r>
          </a:p>
          <a:p>
            <a:pPr>
              <a:spcAft>
                <a:spcPts val="800"/>
              </a:spcAft>
              <a:defRPr sz="1300" b="0">
                <a:solidFill>
                  <a:srgbClr val="2A3441"/>
                </a:solidFill>
                <a:latin typeface="Aptos"/>
              </a:defRPr>
            </a:pPr>
            <a:r>
              <a:t>• Review false approvals/rejections</a:t>
            </a:r>
          </a:p>
          <a:p>
            <a:pPr>
              <a:spcAft>
                <a:spcPts val="800"/>
              </a:spcAft>
              <a:defRPr sz="1300" b="0">
                <a:solidFill>
                  <a:srgbClr val="2A3441"/>
                </a:solidFill>
                <a:latin typeface="Aptos"/>
              </a:defRPr>
            </a:pPr>
            <a:r>
              <a:t>• Assess fairness and explainability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160520"/>
            <a:ext cx="10515600" cy="64008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DFEAF5"/>
                </a:solidFill>
                <a:latin typeface="Aptos"/>
              </a:defRPr>
            </a:pPr>
            <a:r>
              <a:t>Loan status predictions can support analysis, but final lending decisions require broader checks and human oversight.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486400"/>
            <a:ext cx="10515600" cy="64008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FFFFF"/>
                </a:solidFill>
                <a:latin typeface="Aptos Display"/>
              </a:defRPr>
            </a:pPr>
            <a:r>
              <a:t>THANK YOU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172200"/>
            <a:ext cx="10241280" cy="27432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C3D6E9"/>
                </a:solidFill>
                <a:latin typeface="Aptos"/>
              </a:defRPr>
            </a:pPr>
            <a:r>
              <a:t>Loan Eligibility Prediction | IBM SPSS Modeler 18.6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673</Words>
  <Application>Microsoft Office PowerPoint</Application>
  <PresentationFormat>Widescreen</PresentationFormat>
  <Paragraphs>119</Paragraphs>
  <Slides>9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Shivangi Srivastava</dc:creator>
  <cp:keywords/>
  <dc:description>generated using python-pptx</dc:description>
  <cp:lastModifiedBy>Shivangi Sri</cp:lastModifiedBy>
  <cp:revision>5</cp:revision>
  <dcterms:created xsi:type="dcterms:W3CDTF">2013-01-27T09:14:16Z</dcterms:created>
  <dcterms:modified xsi:type="dcterms:W3CDTF">2026-10-20T07:00:54Z</dcterms:modified>
  <cp:category/>
</cp:coreProperties>
</file>